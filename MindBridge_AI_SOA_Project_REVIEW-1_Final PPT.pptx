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45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19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19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19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 lIns="50800" tIns="38100" rIns="50800" bIns="3810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DC0000"/>
                </a:solidFill>
                <a:latin typeface="Times New Roman"/>
              </a:rPr>
              <a:t>Wednesday, August 19th,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260382"/>
              </p:ext>
            </p:extLst>
          </p:nvPr>
        </p:nvGraphicFramePr>
        <p:xfrm>
          <a:off x="8153400" y="5042218"/>
          <a:ext cx="3663462" cy="12505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63462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250507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Team Members</a:t>
                      </a:r>
                    </a:p>
                    <a:p>
                      <a:r>
                        <a:rPr sz="1400" dirty="0">
                          <a:solidFill>
                            <a:srgbClr val="000000"/>
                          </a:solidFill>
                          <a:latin typeface="Times New Roman"/>
                        </a:rPr>
                        <a:t>Gowtham Karthikeya - 2420030222</a:t>
                      </a:r>
                    </a:p>
                    <a:p>
                      <a:r>
                        <a:rPr sz="1400" dirty="0">
                          <a:solidFill>
                            <a:srgbClr val="000000"/>
                          </a:solidFill>
                          <a:latin typeface="Times New Roman"/>
                        </a:rPr>
                        <a:t>Prakash Chawla - 2420030446</a:t>
                      </a:r>
                    </a:p>
                    <a:p>
                      <a:r>
                        <a:rPr sz="1400" dirty="0">
                          <a:solidFill>
                            <a:srgbClr val="000000"/>
                          </a:solidFill>
                          <a:latin typeface="Times New Roman"/>
                        </a:rPr>
                        <a:t>S. Shashivadhan Reddy - 2420030648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781063"/>
              </p:ext>
            </p:extLst>
          </p:nvPr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610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622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Under the Guidance of</a:t>
                      </a:r>
                    </a:p>
                    <a:p>
                      <a:r>
                        <a:rPr sz="1400" dirty="0">
                          <a:solidFill>
                            <a:srgbClr val="000000"/>
                          </a:solidFill>
                          <a:latin typeface="Times New Roman"/>
                        </a:rPr>
                        <a:t>Dr. Srikanth </a:t>
                      </a:r>
                      <a:r>
                        <a:rPr sz="140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Cherukuvada</a:t>
                      </a:r>
                      <a:endParaRPr sz="140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r>
                        <a:rPr sz="1400" dirty="0">
                          <a:solidFill>
                            <a:srgbClr val="000000"/>
                          </a:solidFill>
                          <a:latin typeface="Times New Roman"/>
                        </a:rPr>
                        <a:t>Assistant Professor,</a:t>
                      </a:r>
                    </a:p>
                    <a:p>
                      <a:r>
                        <a:rPr sz="1400" dirty="0">
                          <a:solidFill>
                            <a:srgbClr val="000000"/>
                          </a:solidFill>
                          <a:latin typeface="Times New Roman"/>
                        </a:rPr>
                        <a:t>Department of Computer Science and Engineering,</a:t>
                      </a:r>
                    </a:p>
                    <a:p>
                      <a:r>
                        <a:rPr sz="1400" dirty="0">
                          <a:solidFill>
                            <a:srgbClr val="000000"/>
                          </a:solidFill>
                          <a:latin typeface="Times New Roman"/>
                        </a:rPr>
                        <a:t>KLH CSE </a:t>
                      </a:r>
                      <a:r>
                        <a:rPr sz="140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Bowrampet</a:t>
                      </a:r>
                      <a:r>
                        <a:rPr sz="1400" dirty="0">
                          <a:solidFill>
                            <a:srgbClr val="000000"/>
                          </a:solidFill>
                          <a:latin typeface="Times New Roman"/>
                        </a:rPr>
                        <a:t> Campus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50800" tIns="38100" rIns="50800" bIns="38100" anchor="t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646464"/>
                </a:solidFill>
                <a:latin typeface="Times New Roman"/>
              </a:rPr>
              <a:t>August 19, 2026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lIns="50800" tIns="38100" rIns="50800" bIns="38100" anchor="t"/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646464"/>
                </a:solidFill>
                <a:latin typeface="Times New Roman"/>
              </a:rPr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954107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lvl="0" algn="ctr">
              <a:lnSpc>
                <a:spcPct val="100000"/>
              </a:lnSpc>
              <a:spcAft>
                <a:spcPts val="600"/>
              </a:spcAft>
              <a:defRPr/>
            </a:pPr>
            <a:r>
              <a:rPr sz="2300" b="1">
                <a:solidFill>
                  <a:srgbClr val="FFFFFF"/>
                </a:solidFill>
                <a:latin typeface="Times New Roman"/>
              </a:rPr>
              <a:t>MINDBRIDGE AI: INTELLIGENT MULTI-AGENT MENTAL WELLNESS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Times New Roman"/>
              </a:rPr>
              <a:t>AND ACCESSIBILITY PLATFORM FOR DISABLED INDIVIDUALS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lvl="0" algn="ctr">
              <a:lnSpc>
                <a:spcPct val="105000"/>
              </a:lnSpc>
              <a:spcAft>
                <a:spcPts val="600"/>
              </a:spcAft>
              <a:defRPr/>
            </a:pPr>
            <a:r>
              <a:rPr sz="2400" b="1" dirty="0">
                <a:solidFill>
                  <a:srgbClr val="000000"/>
                </a:solidFill>
                <a:latin typeface="Times New Roman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50800" tIns="38100" rIns="50800" bIns="38100" anchor="t"/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sz="1100" b="0">
                <a:solidFill>
                  <a:srgbClr val="646464"/>
                </a:solidFill>
                <a:latin typeface="Times New Roman"/>
              </a:rPr>
              <a:t>August 19, 2026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lIns="50800" tIns="38100" rIns="50800" bIns="38100" anchor="t"/>
          <a:lstStyle/>
          <a:p>
            <a:pPr marL="0" marR="0" lvl="0" indent="0" algn="ctr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sz="1100" b="1">
                <a:solidFill>
                  <a:srgbClr val="646464"/>
                </a:solidFill>
                <a:latin typeface="Times New Roman"/>
              </a:rPr>
              <a:t>SOA Project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50800" tIns="38100" rIns="50800" bIns="3810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sz="2700" b="1">
                <a:solidFill>
                  <a:srgbClr val="3769AF"/>
                </a:solidFill>
                <a:latin typeface="Times New Roman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lIns="50800" tIns="38100" rIns="50800" bIns="38100" anchor="t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60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sz="1500" b="1">
                  <a:solidFill>
                    <a:srgbClr val="F5F5F5"/>
                  </a:solidFill>
                  <a:latin typeface="Times New Roman"/>
                </a:rPr>
                <a:t>•  Research Objectives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lIns="50800" tIns="38100" rIns="50800" bIns="38100" anchor="t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60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sz="1500" b="1">
                  <a:solidFill>
                    <a:srgbClr val="F5F5F5"/>
                  </a:solidFill>
                  <a:latin typeface="Times New Roman"/>
                </a:rPr>
                <a:t>•  Research Gap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lIns="50800" tIns="38100" rIns="50800" bIns="38100" anchor="t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05000"/>
                </a:lnSpc>
                <a:spcBef>
                  <a:spcPts val="504"/>
                </a:spcBef>
                <a:spcAft>
                  <a:spcPts val="60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sz="1500" b="1">
                  <a:solidFill>
                    <a:srgbClr val="F5F5F5"/>
                  </a:solidFill>
                  <a:latin typeface="Times New Roman"/>
                </a:rPr>
                <a:t>•  Innovation &amp; Novelty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lIns="50800" tIns="38100" rIns="50800" bIns="38100" anchor="t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05000"/>
                </a:lnSpc>
                <a:spcBef>
                  <a:spcPts val="504"/>
                </a:spcBef>
                <a:spcAft>
                  <a:spcPts val="60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sz="1500" b="1">
                  <a:solidFill>
                    <a:srgbClr val="F5F5F5"/>
                  </a:solidFill>
                  <a:latin typeface="Times New Roman"/>
                </a:rPr>
                <a:t>•  References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lIns="50800" tIns="38100" rIns="50800" bIns="38100" anchor="t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05000"/>
                </a:lnSpc>
                <a:spcBef>
                  <a:spcPts val="504"/>
                </a:spcBef>
                <a:spcAft>
                  <a:spcPts val="60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sz="1500" b="1">
                  <a:solidFill>
                    <a:srgbClr val="F5F5F5"/>
                  </a:solidFill>
                  <a:latin typeface="Times New Roman"/>
                </a:rPr>
                <a:t>•  Feasibility &amp; Project Plan</a:t>
              </a: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50800" tIns="38100" rIns="50800" bIns="3810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60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sz="1500" b="1">
                  <a:solidFill>
                    <a:srgbClr val="F5F5F5"/>
                  </a:solidFill>
                  <a:latin typeface="Times New Roman"/>
                </a:rPr>
                <a:t>•  Focus</a:t>
              </a: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50800" tIns="38100" rIns="50800" bIns="3810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60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sz="1500" b="1">
                  <a:solidFill>
                    <a:srgbClr val="F5F5F5"/>
                  </a:solidFill>
                  <a:latin typeface="Times New Roman"/>
                </a:rPr>
                <a:t>•  Problem Statement</a:t>
              </a: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lIns="50800" tIns="38100" rIns="50800" bIns="38100" anchor="t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60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sz="1500" b="1">
                  <a:solidFill>
                    <a:srgbClr val="F5F5F5"/>
                  </a:solidFill>
                  <a:latin typeface="Times New Roman"/>
                </a:rPr>
                <a:t>•  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1565032" y="482232"/>
            <a:ext cx="8522866" cy="681918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000" b="1" dirty="0">
                <a:solidFill>
                  <a:srgbClr val="000000"/>
                </a:solidFill>
                <a:latin typeface="Times New Roman"/>
              </a:rPr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7008" y="1345223"/>
            <a:ext cx="10707272" cy="5022722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0" dirty="0">
                <a:solidFill>
                  <a:srgbClr val="000000"/>
                </a:solidFill>
                <a:latin typeface="Times New Roman"/>
              </a:rPr>
              <a:t>• Individuals with disabilities may face communication barriers, limited accessibility, social isolation, and difficulty obtaining personalized mental wellness support.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0" dirty="0">
                <a:solidFill>
                  <a:srgbClr val="000000"/>
                </a:solidFill>
                <a:latin typeface="Times New Roman"/>
              </a:rPr>
              <a:t>• Conventional digital mental wellness platforms may not adequately address visual, hearing, speech, physical, and cognitive accessibility requirements.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0" dirty="0">
                <a:solidFill>
                  <a:srgbClr val="000000"/>
                </a:solidFill>
                <a:latin typeface="Times New Roman"/>
              </a:rPr>
              <a:t>• Users require support that adapts to emotional state, communication preferences, and accessibility needs.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0" dirty="0">
                <a:solidFill>
                  <a:srgbClr val="000000"/>
                </a:solidFill>
                <a:latin typeface="Times New Roman"/>
              </a:rPr>
              <a:t>• Existing solutions often provide isolated functions rather than coordinating assessment, conversation, accessibility adaptation, recommendations, and risk identification.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0" dirty="0">
                <a:solidFill>
                  <a:srgbClr val="000000"/>
                </a:solidFill>
                <a:latin typeface="Times New Roman"/>
              </a:rPr>
              <a:t>• An SOA-based intelligent platform is needed to integrate these capabilities through modular, reusable, and loosely coupled services.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1503485" y="311275"/>
            <a:ext cx="7596554" cy="681918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000" b="1" dirty="0">
                <a:solidFill>
                  <a:srgbClr val="000000"/>
                </a:solidFill>
                <a:latin typeface="Times New Roman"/>
              </a:rPr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5340" y="1162366"/>
            <a:ext cx="10561320" cy="5384359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• </a:t>
            </a:r>
            <a:r>
              <a:rPr sz="2400" b="0" dirty="0">
                <a:solidFill>
                  <a:srgbClr val="000000"/>
                </a:solidFill>
                <a:latin typeface="Times New Roman"/>
              </a:rPr>
              <a:t>Develop an intelligent multi-agent SOA-based mental wellness and accessibility platform.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0" dirty="0">
                <a:solidFill>
                  <a:srgbClr val="000000"/>
                </a:solidFill>
                <a:latin typeface="Times New Roman"/>
              </a:rPr>
              <a:t>• Design independent services for emotional assessment, conversational assistance, accessibility adaptation, wellness recommendation, and risk identification.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0" dirty="0">
                <a:solidFill>
                  <a:srgbClr val="000000"/>
                </a:solidFill>
                <a:latin typeface="Times New Roman"/>
              </a:rPr>
              <a:t>• Enable text, voice, and accessibility-oriented interaction modes.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0" dirty="0">
                <a:solidFill>
                  <a:srgbClr val="000000"/>
                </a:solidFill>
                <a:latin typeface="Times New Roman"/>
              </a:rPr>
              <a:t>• Coordinate services using user context, emotional state, communication preferences, and accessibility needs.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0" dirty="0">
                <a:solidFill>
                  <a:srgbClr val="000000"/>
                </a:solidFill>
                <a:latin typeface="Times New Roman"/>
              </a:rPr>
              <a:t>• Enable communication through REST APIs and defined service-oriented interfaces.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0" dirty="0">
                <a:solidFill>
                  <a:srgbClr val="000000"/>
                </a:solidFill>
                <a:latin typeface="Times New Roman"/>
              </a:rPr>
              <a:t>• Apply SOA principles such as loose coupling, reusability, modularity, scalability, and interoperability.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0" dirty="0">
                <a:solidFill>
                  <a:srgbClr val="000000"/>
                </a:solidFill>
                <a:latin typeface="Times New Roman"/>
              </a:rPr>
              <a:t>• Provide personalized wellness resources and support appropriate escalation for potential risk situations.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7184277"/>
              </p:ext>
            </p:extLst>
          </p:nvPr>
        </p:nvGraphicFramePr>
        <p:xfrm>
          <a:off x="274646" y="689466"/>
          <a:ext cx="11642705" cy="575689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61939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600" b="1" dirty="0">
                          <a:solidFill>
                            <a:srgbClr val="000000"/>
                          </a:solidFill>
                          <a:latin typeface="Times New Roman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107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Grassini et al. [1]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A systematic review of chatbots in inclusive healthcare: insights from the last 5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Systematic review of 21 implemented healthcare chatbot studies from ScienceDirect, IEEE Xplore, ACM Digital Library, and Google Scholar.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Chatbots can improve healthcare interaction, but inclusive accessibility for elderly users and people with disabilities remains insufficiently addressed.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Need accessibility-by-design approaches and stronger attention to inclusion in chatbot development.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931724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Yang et al. [2]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Conversational agents in physical and psychological symptom management: A systematic review of randomized controlled trials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Systematic review of RCTs; 2,756 records screened and 29 studies included, with emphasis on conversational-agent interventions for psychological and physical symptoms.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Conversational agents show potential for symptom management and user support, with feasibility and acceptability frequently evaluated.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More rigorous trials, broader populations, and stronger evidence on long-term effectiveness are needed.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470416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Nadeeshani et al. [3]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A Literature Review of Conversational Agents for People with Intellectual and Developmental Disabilities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Literature review of 37 studies selected from 1,151 records across Scopus, IEEE Xplore, ACM Digital Library, Web of Science, and PubMed.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CA research for people with intellectual and developmental disabilities is growing, but user needs are diverse and competency-based, personalized design is important.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Health applications remain underexplored; stronger safeguards, inclusive co-design, usability, transparency, and trustworthy interaction are needed.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lIns="50800" tIns="38100" rIns="50800" bIns="38100" rtlCol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700" b="1">
                <a:solidFill>
                  <a:srgbClr val="3769AF"/>
                </a:solidFill>
                <a:latin typeface="Times New Roman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13281"/>
            <a:ext cx="2743200" cy="208194"/>
          </a:xfrm>
        </p:spPr>
        <p:txBody>
          <a:bodyPr wrap="square" lIns="50800" tIns="38100" rIns="50800" bIns="38100" anchor="t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dirty="0">
                <a:solidFill>
                  <a:srgbClr val="646464"/>
                </a:solidFill>
                <a:latin typeface="Times New Roman"/>
              </a:rPr>
              <a:t>August 19, 2026</a:t>
            </a:r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4489"/>
            <a:ext cx="4114800" cy="208194"/>
          </a:xfrm>
        </p:spPr>
        <p:txBody>
          <a:bodyPr wrap="square" lIns="50800" tIns="38100" rIns="50800" bIns="38100" anchor="t"/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1" dirty="0">
                <a:solidFill>
                  <a:srgbClr val="646464"/>
                </a:solidFill>
                <a:latin typeface="Times New Roman"/>
              </a:rPr>
              <a:t>SOA Project Review-1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76086"/>
            <a:ext cx="2743200" cy="245389"/>
          </a:xfrm>
        </p:spPr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1995853" y="520947"/>
            <a:ext cx="7165731" cy="54579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100" b="1" dirty="0">
                <a:solidFill>
                  <a:srgbClr val="000000"/>
                </a:solidFill>
                <a:latin typeface="Times New Roman"/>
              </a:rPr>
              <a:t>Research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9370" y="1191794"/>
            <a:ext cx="10561320" cy="4903522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</a:rPr>
              <a:t>• Limited research specifically addresses accessible digital mental wellness platforms for people with disabilities.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</a:rPr>
              <a:t>• General conversational support systems may not adapt to visual, hearing, speech, physical, and cognitive accessibility requirements.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</a:rPr>
              <a:t>• Emotional support, accessibility adaptation, wellness recommendation, and risk monitoring are often implemented as separate functions.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</a:rPr>
              <a:t>• Existing approaches lack a unified architecture for coordinating these capabilities according to individual user context and requirements.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</a:rPr>
              <a:t>• MindBridge AI addresses this gap through a service-oriented multi-agent architecture in which specialized services work together through defined interfaces and REST APIs.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720969" y="209118"/>
            <a:ext cx="9657102" cy="51559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900" b="1" dirty="0">
                <a:solidFill>
                  <a:srgbClr val="000000"/>
                </a:solidFill>
                <a:latin typeface="Times New Roman"/>
              </a:rPr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7539" y="831668"/>
            <a:ext cx="11333283" cy="592982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b="1" dirty="0">
                <a:solidFill>
                  <a:srgbClr val="000000"/>
                </a:solidFill>
                <a:latin typeface="Times New Roman"/>
              </a:rPr>
              <a:t>INNOVATION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b="0" dirty="0">
                <a:solidFill>
                  <a:srgbClr val="000000"/>
                </a:solidFill>
                <a:latin typeface="Times New Roman"/>
              </a:rPr>
              <a:t>• Multi-Agent SOA Architecture – specialized AI capabilities exposed as independent services.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b="0" dirty="0">
                <a:solidFill>
                  <a:srgbClr val="000000"/>
                </a:solidFill>
                <a:latin typeface="Times New Roman"/>
              </a:rPr>
              <a:t>• Accessibility Adaptation – interaction adapts to visual, hearing, speech, physical, and cognitive needs.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b="0" dirty="0">
                <a:solidFill>
                  <a:srgbClr val="000000"/>
                </a:solidFill>
                <a:latin typeface="Times New Roman"/>
              </a:rPr>
              <a:t>• Multimodal Interaction – supports text and voice-based assistance.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b="0" dirty="0">
                <a:solidFill>
                  <a:srgbClr val="000000"/>
                </a:solidFill>
                <a:latin typeface="Times New Roman"/>
              </a:rPr>
              <a:t>• Context-Aware Coordination – service orchestration uses emotional state, preferences, and accessibility context.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b="0" dirty="0">
                <a:solidFill>
                  <a:srgbClr val="000000"/>
                </a:solidFill>
                <a:latin typeface="Times New Roman"/>
              </a:rPr>
              <a:t>• Wellness + Risk Support – combines personalized wellness recommendations with potential risk identification.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b="0" dirty="0">
                <a:solidFill>
                  <a:srgbClr val="000000"/>
                </a:solidFill>
                <a:latin typeface="Times New Roman"/>
              </a:rPr>
              <a:t>• Modular &amp; Scalable Design – services can be developed, tested, reused, and extended independently.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endParaRPr b="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b="1" dirty="0">
                <a:solidFill>
                  <a:srgbClr val="000000"/>
                </a:solidFill>
                <a:latin typeface="Times New Roman"/>
              </a:rPr>
              <a:t>CREATIVITY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b="0" dirty="0">
                <a:solidFill>
                  <a:srgbClr val="000000"/>
                </a:solidFill>
                <a:latin typeface="Times New Roman"/>
              </a:rPr>
              <a:t>• Emotion-Adaptive Interaction – responses adapt according to the user's emotional context.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b="0" dirty="0">
                <a:solidFill>
                  <a:srgbClr val="000000"/>
                </a:solidFill>
                <a:latin typeface="Times New Roman"/>
              </a:rPr>
              <a:t>• Accessibility-Aware AI – dynamically adjusts interaction according to individual accessibility needs.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b="0" dirty="0">
                <a:solidFill>
                  <a:srgbClr val="000000"/>
                </a:solidFill>
                <a:latin typeface="Times New Roman"/>
              </a:rPr>
              <a:t>• Multi-Agent Collaboration – specialized agents cooperate instead of relying on a single general chatbot.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b="0" dirty="0">
                <a:solidFill>
                  <a:srgbClr val="000000"/>
                </a:solidFill>
                <a:latin typeface="Times New Roman"/>
              </a:rPr>
              <a:t>• Multimodal Communication – supports text and voice interaction for different user preferences.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b="0" dirty="0">
                <a:solidFill>
                  <a:srgbClr val="000000"/>
                </a:solidFill>
                <a:latin typeface="Times New Roman"/>
              </a:rPr>
              <a:t>• Personalized Wellness Companion – recommends suitable wellness activities and resources based on context.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b="0" dirty="0">
                <a:solidFill>
                  <a:srgbClr val="000000"/>
                </a:solidFill>
                <a:latin typeface="Times New Roman"/>
              </a:rPr>
              <a:t>• Context-Aware Service Orchestration – coordinates the appropriate services for each user.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b="0" dirty="0">
                <a:solidFill>
                  <a:srgbClr val="000000"/>
                </a:solidFill>
                <a:latin typeface="Times New Roman"/>
              </a:rPr>
              <a:t>• Risk-Aware Support – identifies potential risk situations and supports appropriate escalation.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endParaRPr b="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b="1" dirty="0">
                <a:solidFill>
                  <a:srgbClr val="000000"/>
                </a:solidFill>
                <a:latin typeface="Times New Roman"/>
              </a:rPr>
              <a:t>NOVELTY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b="0" dirty="0">
                <a:solidFill>
                  <a:srgbClr val="000000"/>
                </a:solidFill>
                <a:latin typeface="Times New Roman"/>
              </a:rPr>
              <a:t>A unified multi-agent + SOA approach that connects emotional assessment, accessibility adaptation, personalized wellness, conversation, and risk support through independent services.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685800" y="201742"/>
            <a:ext cx="9563580" cy="51559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900" b="1" dirty="0">
                <a:solidFill>
                  <a:srgbClr val="000000"/>
                </a:solidFill>
                <a:latin typeface="Times New Roman"/>
              </a:rPr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381398" y="1743891"/>
            <a:ext cx="10116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52185"/>
            <a:ext cx="5212080" cy="3026278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FEASIBILITY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• Independent service development and testing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• REST API-based communication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• Incremental implementation and integration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• Web, AI/NLP, database, and accessibility technologies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• Modular architecture supports future service additions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703319"/>
            <a:ext cx="2057400" cy="1014213"/>
          </a:xfrm>
          <a:prstGeom prst="roundRect">
            <a:avLst/>
          </a:prstGeom>
          <a:solidFill>
            <a:srgbClr val="404040"/>
          </a:solidFill>
          <a:ln w="19050">
            <a:solidFill>
              <a:srgbClr val="F0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Times New Roman"/>
              </a:rPr>
              <a:t>PHASE 1</a:t>
            </a:r>
          </a:p>
          <a:p>
            <a:pPr algn="ctr"/>
            <a:r>
              <a:rPr sz="1100" b="1" dirty="0">
                <a:solidFill>
                  <a:srgbClr val="FFFFFF"/>
                </a:solidFill>
                <a:latin typeface="Times New Roman"/>
              </a:rPr>
              <a:t>Requirements</a:t>
            </a:r>
          </a:p>
          <a:p>
            <a:pPr algn="ctr"/>
            <a:endParaRPr sz="950" dirty="0">
              <a:solidFill>
                <a:srgbClr val="FFBE50"/>
              </a:solidFill>
              <a:latin typeface="Times New Roman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907792" y="3703319"/>
            <a:ext cx="2057400" cy="1014214"/>
          </a:xfrm>
          <a:prstGeom prst="roundRect">
            <a:avLst/>
          </a:prstGeom>
          <a:solidFill>
            <a:srgbClr val="404040"/>
          </a:solidFill>
          <a:ln w="19050">
            <a:solidFill>
              <a:srgbClr val="F0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Times New Roman"/>
              </a:rPr>
              <a:t>PHASE 2</a:t>
            </a:r>
          </a:p>
          <a:p>
            <a:pPr algn="ctr"/>
            <a:r>
              <a:rPr sz="1100" b="1" dirty="0">
                <a:solidFill>
                  <a:srgbClr val="FFFFFF"/>
                </a:solidFill>
                <a:latin typeface="Times New Roman"/>
              </a:rPr>
              <a:t>Core Services</a:t>
            </a:r>
          </a:p>
          <a:p>
            <a:pPr algn="ctr"/>
            <a:endParaRPr sz="950" dirty="0">
              <a:solidFill>
                <a:srgbClr val="FFBE50"/>
              </a:solidFill>
              <a:latin typeface="Times New Roman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129784" y="3703320"/>
            <a:ext cx="2057400" cy="1014212"/>
          </a:xfrm>
          <a:prstGeom prst="roundRect">
            <a:avLst/>
          </a:prstGeom>
          <a:solidFill>
            <a:srgbClr val="404040"/>
          </a:solidFill>
          <a:ln w="19050">
            <a:solidFill>
              <a:srgbClr val="F0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Times New Roman"/>
              </a:rPr>
              <a:t>PHASE 3</a:t>
            </a:r>
          </a:p>
          <a:p>
            <a:pPr algn="ctr"/>
            <a:r>
              <a:rPr sz="1100" b="1" dirty="0">
                <a:solidFill>
                  <a:srgbClr val="FFFFFF"/>
                </a:solidFill>
                <a:latin typeface="Times New Roman"/>
              </a:rPr>
              <a:t>Accessibility</a:t>
            </a:r>
          </a:p>
          <a:p>
            <a:pPr algn="ctr"/>
            <a:endParaRPr sz="950" dirty="0">
              <a:solidFill>
                <a:srgbClr val="FFBE50"/>
              </a:solidFill>
              <a:latin typeface="Times New Roman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51776" y="3703320"/>
            <a:ext cx="2057400" cy="964498"/>
          </a:xfrm>
          <a:prstGeom prst="roundRect">
            <a:avLst/>
          </a:prstGeom>
          <a:solidFill>
            <a:srgbClr val="404040"/>
          </a:solidFill>
          <a:ln w="19050">
            <a:solidFill>
              <a:srgbClr val="F0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Times New Roman"/>
              </a:rPr>
              <a:t>PHASE 4</a:t>
            </a:r>
          </a:p>
          <a:p>
            <a:pPr algn="ctr"/>
            <a:r>
              <a:rPr sz="1100" b="1" dirty="0">
                <a:solidFill>
                  <a:srgbClr val="FFFFFF"/>
                </a:solidFill>
                <a:latin typeface="Times New Roman"/>
              </a:rPr>
              <a:t>SOA Integration</a:t>
            </a:r>
          </a:p>
          <a:p>
            <a:pPr algn="ctr"/>
            <a:endParaRPr sz="950" dirty="0">
              <a:solidFill>
                <a:srgbClr val="FFBE50"/>
              </a:solidFill>
              <a:latin typeface="Times New Roman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573768" y="3703320"/>
            <a:ext cx="2057400" cy="964498"/>
          </a:xfrm>
          <a:prstGeom prst="roundRect">
            <a:avLst/>
          </a:prstGeom>
          <a:solidFill>
            <a:srgbClr val="404040"/>
          </a:solidFill>
          <a:ln w="19050">
            <a:solidFill>
              <a:srgbClr val="F0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Times New Roman"/>
              </a:rPr>
              <a:t>PHASE 5</a:t>
            </a:r>
          </a:p>
          <a:p>
            <a:pPr algn="ctr"/>
            <a:r>
              <a:rPr sz="1100" b="1" dirty="0">
                <a:solidFill>
                  <a:srgbClr val="FFFFFF"/>
                </a:solidFill>
                <a:latin typeface="Times New Roman"/>
              </a:rPr>
              <a:t>Testing &amp; Evaluation</a:t>
            </a:r>
          </a:p>
          <a:p>
            <a:pPr algn="ctr"/>
            <a:endParaRPr sz="950" dirty="0">
              <a:solidFill>
                <a:srgbClr val="FFBE50"/>
              </a:solidFill>
              <a:latin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0025" y="4869814"/>
            <a:ext cx="10561320" cy="827727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400" b="1" dirty="0">
                <a:solidFill>
                  <a:srgbClr val="000000"/>
                </a:solidFill>
                <a:latin typeface="Times New Roman"/>
              </a:rPr>
              <a:t>Project Flow: Requirement Analysis → Agent &amp; Service Development → Accessibility Features → SOA Integration → Testing &amp;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849822"/>
            <a:ext cx="10561320" cy="827727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400" b="1" dirty="0">
                <a:solidFill>
                  <a:srgbClr val="000000"/>
                </a:solidFill>
                <a:latin typeface="Times New Roman"/>
              </a:rPr>
              <a:t>SOA Principles: Loose Coupling • Reusability • Modularity • Scalability • Service Interfaces • API-Based Communication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1022</Words>
  <Application>Microsoft Office PowerPoint</Application>
  <PresentationFormat>Widescreen</PresentationFormat>
  <Paragraphs>118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shashivadhan reddy</cp:lastModifiedBy>
  <cp:revision>31</cp:revision>
  <dcterms:created xsi:type="dcterms:W3CDTF">2026-08-08T06:33:56Z</dcterms:created>
  <dcterms:modified xsi:type="dcterms:W3CDTF">2026-08-19T08:50:44Z</dcterms:modified>
</cp:coreProperties>
</file>